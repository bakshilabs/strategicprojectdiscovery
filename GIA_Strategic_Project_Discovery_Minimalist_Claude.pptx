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2588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GIA Strategic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Discovery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Infrastructure Intelligence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Early Opportunity Identification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4622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590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Infrastructure Advisors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45902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Technical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 &amp; CONCEPT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Early awareness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enables early positioning.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395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 automates what would otherwise be a manual research process across hundreds of procurement portals, press sources and databases — delegating search to a large language model with real-time Google Search grounding.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310128"/>
            <a:ext cx="24688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4015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Automates Research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133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Scans hundreds of procurement portals and press sources that would otherwise require dedicated analyst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310128"/>
            <a:ext cx="24688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34015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3749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with Live 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4133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 Flash with real-time Google Search grounding surfaces current, real-world procurement notices.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3310128"/>
            <a:ext cx="24688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4015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3749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4133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standardised data fields per opportunity, presented in a dashboard with map, filters and CSV export.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DEFINITION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criteria define a GIA-category project.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9280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8928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$50M project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97880" y="1874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Hard-coded into the AI prompt as a non-negotiable filter. Below this threshold, projects rarely carry the complexity or ambition that characterises GIA work.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8620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2953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Character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9718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ambition or civic significance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29535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$100M iconic cultural building ranks above a $500M routine road resurfacing framework. The AI weights ambition alongside capital value and excludes maintenance contracts.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941064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507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4032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Procurement Stage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4050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through to Awarded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403250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stages targeted. Primary value is in Pipeline and Procurement — before a tender is formally live, enabling early client engagement and bid positioning.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5029200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SECTORS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3268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Seven sectors. Defined by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GIA's competitive positioning.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an exhaustive taxonomy — a targeted list calibrated to areas where GIA has sector expertise, a track record, and a realistic prospect of winning work.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840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40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22219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 Speed Rail &amp; Metro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Fixed-guideway rapid transit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852928"/>
            <a:ext cx="3840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443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2926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Transit-Oriented Development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2186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Mixed-use urban intensification around transit nodes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557016"/>
            <a:ext cx="3840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48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36301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Urban Regeneration &amp; Masterplanning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9227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Large-scale brownfield, waterfront and post-industrial renewal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4261104"/>
            <a:ext cx="3840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525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43342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Centres &amp; Tech Infrastructure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462686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and compute infrastructure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148840"/>
            <a:ext cx="3840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240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22219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Ports &amp; Maritime Infrastructure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Seaport, inland and offshore marine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852928"/>
            <a:ext cx="3840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9443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2926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Mega Projects &amp; National Programmes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32186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national capital investment, new cities, economic zones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557016"/>
            <a:ext cx="3840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48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57800" y="36301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Energy, Water &amp; Sustainability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39227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MEP engineering, environmental systems and sustainability consultancy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4965192"/>
            <a:ext cx="3840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4261104"/>
            <a:ext cx="3840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32688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steps from prompt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structured result.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606040" y="2148840"/>
            <a:ext cx="109728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84832"/>
            <a:ext cx="1874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762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Prompt Construction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94436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framing + task + sector-specific hint + up to 60 named procurement sources + strict JSON output schema.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36008" y="2148840"/>
            <a:ext cx="109728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15768" y="2084832"/>
            <a:ext cx="1874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1762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15768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15768" y="294436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Mid-tier frontier model. Temperature 0.7. Max 8,192 output tokens per call to maximise results.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65976" y="2148840"/>
            <a:ext cx="109728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45736" y="2084832"/>
            <a:ext cx="1874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21762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45736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Google Search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45736" y="294436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 grounding via the Gemini tools API. Surfaces current notices — not training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75704" y="2084832"/>
            <a:ext cx="1874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21762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75704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Resilient JSON Parser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75704" y="294436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5-stage parse strategy: strip fences → find [ → clean control chars → JSON.parse → regex fallback.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343400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62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Scan types 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4462272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Sector (up to 20 results)   ·   Scan All 7 Sectors (35–50 sec, 4s delay between calls)   ·   6 Region Filters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COVERAGE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650+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channels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34 categories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60520" y="914400"/>
            <a:ext cx="0" cy="347472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9784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Government Portals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0" y="123444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member states · All 50 US states · Canada · LATAM · APAC · Middle East · Africa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45262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57276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Multilateral Banks &amp; Development Agencies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0" y="18288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Bank · ADB · AfDB · IFC · EBRD · 18+ institutions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45262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671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Rail, Port &amp; Airport Operators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0" y="242316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40+ rail operators · 30+ port authorities · 30+ airport authorities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2697480"/>
            <a:ext cx="45262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7614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Energy, Water &amp; Sustainability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0" y="30175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 utilities, environment agencies and MEP-focused bodies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3291840"/>
            <a:ext cx="45262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35584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Industry Press &amp; Intelligence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0" y="361188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 outlets across transport, energy and digital infrastructure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886200"/>
            <a:ext cx="45262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9502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Finance &amp; ESG Platforms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89120" y="420624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IJGlobal* · MEED* · Glenigan* · Barbour ABI* · Inframation*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480560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90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Subscription sources accessed via publicly indexed excerpts only   ·   60-source prompt cap applies per scan   ·   User can enable / disable any source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FIELDS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326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 structured fields returned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 opportunity.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665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74520" y="20665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 project or tender name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414016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87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client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74520" y="24871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Procuring authority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34640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07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region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29077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 or city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255264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284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lat / lng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74520" y="33284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Geocoordinates for map placement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675888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49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74520" y="37490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/ Procurement / Live Tender / Awarded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096512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69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urgency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74520" y="41696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/ Medium / 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517136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5902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relevance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74520" y="45902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alignment score (50–97)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4937760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993392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0665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value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20665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total capital value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2414016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487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deadline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0" y="24871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Anticipated submission milestone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834640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907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type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52160" y="29077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/ delivery mechanism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255264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3284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source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52160" y="33284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procurement portal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3675888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749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852160" y="37490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 sentence project description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4096512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169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context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852160" y="41696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 sentence strategic context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4517136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45902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gia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852160" y="45902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Four-dimensional fit assessment object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4937760"/>
            <a:ext cx="37947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&amp; FIT ASSESSMENT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Relevance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integer (50–97). Floor ensures minimum relevance; ceiling prevents false confidence. Displayed as an SVG ring gauge on each result card.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20116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715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 –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2907792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strategic fit — prioritise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355848"/>
            <a:ext cx="201168" cy="38404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3741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 – 79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3566160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Worth monitoring — flag for 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4014216"/>
            <a:ext cx="201168" cy="38404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032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&lt; 60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4224528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Peripheral — low alignment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914400"/>
            <a:ext cx="0" cy="356616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601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GIA Fit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Assessment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18745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sub-scores (0–100) with a one-sentence actionable verdict synthesising all dimensions. Bars: ≥70 dark · 45–69 mid · &lt;45 light.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633472"/>
            <a:ext cx="4160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706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Sector Fit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29400" y="2724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 with GIA's 7 sector specialisms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145536"/>
            <a:ext cx="4160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218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Scale Fit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29400" y="3236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value and complexity vs GIA capacity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60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730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Geography Fit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3749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GIA presence and market knowledge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4169664"/>
            <a:ext cx="4160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242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 Probability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29400" y="42611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Indicative bid success likelihood — contextual only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4681728"/>
            <a:ext cx="4160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STAGE &amp; URGENCY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32688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stages across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procurement lifecycle.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1874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762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578608"/>
            <a:ext cx="68580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78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2907792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Publicly announced but not in procurement. Highest value for GIA — enables early client engagement, teaming conversations and bid positioning before competition forms.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15768" y="2084832"/>
            <a:ext cx="1874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21762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Procurement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15768" y="2578608"/>
            <a:ext cx="68580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578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15768" y="2907792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PQQs, EOIs or ITTs issued or imminent. A formal engagement process is underway. Sufficient time for pre-qualification and teaming discussions.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5736" y="2084832"/>
            <a:ext cx="1874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21762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Tender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45736" y="2578608"/>
            <a:ext cx="68580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2578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45736" y="2907792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Formal tender currently open. A submission deadline is active. Time-critical — bid preparation must begin immediately.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75704" y="2084832"/>
            <a:ext cx="1874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21762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Awarded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75704" y="2578608"/>
            <a:ext cx="685800" cy="21945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5704" y="2578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75704" y="2907792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publicly awarded. Included for market intelligence: who won, at what value, which delivery model, and follow-on package indicators.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OUTPUTS &amp; ARCHITECTURE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Outputs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3657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 JSON Download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92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Triggered on every scan. Filename: {timestamp}_{sector-slug}.json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3657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All Results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15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all-results.json + localStorage session (10 most recent saves)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3657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columns, one row per opportunity — all sectors flattened into one file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977640"/>
            <a:ext cx="3657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Map 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361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Leaflet.js with CartoDB dark tiles, geocoded via lat/lng fields per result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800600"/>
            <a:ext cx="3657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914400"/>
            <a:ext cx="0" cy="365760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Technical Stack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92040" y="1508760"/>
            <a:ext cx="4023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6002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1600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(UMD, no build step required)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2075688"/>
            <a:ext cx="4023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1671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Model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1671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 Flash via generativelanguage.googleapis.com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642616"/>
            <a:ext cx="4023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7340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Search Grounding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27340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Search via Gemini tools API (live inference)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3209544"/>
            <a:ext cx="4023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3009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33009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Leaflet.js · CartoDB dark tile layer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776472"/>
            <a:ext cx="4023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8679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3867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localStorage — 10 most recent sessions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4343400"/>
            <a:ext cx="4023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434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44348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self-contained HTML file — no server required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92040" y="4910328"/>
            <a:ext cx="4023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CAVEATS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32688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Results are indicative. Always verify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independently before taking BD action.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886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  AI Hallucination Risk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41401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may generate plausible-sounding but fictitious project names, clients or portal names. All results require independent verification.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2011680"/>
            <a:ext cx="3886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103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 Source Prompt vs. Access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00600" y="241401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 instructs the AI to search specific portals but makes no direct API calls to any of them. Results are publicly indexed content only.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971800"/>
            <a:ext cx="3886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63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 60-Source Prompt Cap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3741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first 60 enabled sources are injected per prompt. ~590 sources are excluded from explicit instruction per scan.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971800"/>
            <a:ext cx="3886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063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 Score Subjectivity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33741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Relevance and fit scores are AI estimates with no access to GIA's actual CRM history, capability data or live pipeline.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3886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23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  Deadline &amp; Value Accuracy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33425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Deadlines may reflect inferred programme timelines. Values may reflect business case estimates rather than contract award figures.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931920"/>
            <a:ext cx="3886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023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  API Key Exposure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433425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Gemini API key is embedded in client-side JS and visible in page source. Internal use only — not suitable for public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80467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05840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704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133856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Automates early-stage procurement intelligence across 650+ global channels using Gemini AI with live search grounding — no manual portal-by-portal research required.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801368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tightly defined sectors with precise scope definitions prevent irrelevant results. Sector hints inject additional precision directly into the AI prompt.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596896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614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2724912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opportunity returns 14 fields: a Relevance Score (50–97), stage, urgency, value, deadline, and a four-dimensional fit assessment with an actionable verdict.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392424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570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3520440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and Procurement stages are the primary value — enabling teaming conversations and client engagement months before formal competition crystallises.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18795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3525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80160" y="4315968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are indicative only. Scores have no access to internal GIA data. All opportunities must be independently verified before business development action.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983480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736592"/>
            <a:ext cx="777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Infrastructure Advisors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48463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 Strategic Project Discovery  ·  Internal Technical Overview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GIA Strategic Project Discovery</dc:title>
  <dc:subject>PptxGenJS Presentation</dc:subject>
  <dc:creator>PptxGenJS</dc:creator>
  <cp:lastModifiedBy>PptxGenJS</cp:lastModifiedBy>
  <cp:revision>1</cp:revision>
  <dcterms:created xsi:type="dcterms:W3CDTF">2026-04-07T03:40:32Z</dcterms:created>
  <dcterms:modified xsi:type="dcterms:W3CDTF">2026-04-07T03:40:32Z</dcterms:modified>
</cp:coreProperties>
</file>